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 rot="19800000">
            <a:off x="-762152" y="2423160"/>
            <a:ext cx="13716000" cy="20116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0" b="1">
                <a:solidFill>
                  <a:srgbClr val="4A558C"/>
                </a:solidFill>
                <a:latin typeface="Cambria"/>
              </a:rPr>
              <a:t>WORKED EXAMPLE  ·  FICTIONAL BRAND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C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9C84D"/>
                </a:solidFill>
                <a:latin typeface="Calibri"/>
              </a:rPr>
              <a:t>RECOMMENDATION  ·  WORKING POV  ·  FOR LEADERSHIP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>
                <a:solidFill>
                  <a:srgbClr val="FFFFFF"/>
                </a:solidFill>
                <a:latin typeface="Cambria"/>
              </a:rPr>
              <a:t>Run a 3-track sequenced defense — Defend, Shift, Preserve — with stage-gates at months 3, 6, 12 tied to adjacent-launch traction and biosimilar uptake signals.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5760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CADCFC"/>
                </a:solidFill>
                <a:latin typeface="Calibri"/>
              </a:rPr>
              <a:t>$35–55M redeployment, fully self-funded from established-indication HCP and DTC spend. Adjacent indication launch stays fully funded. Holds 60–70% of patient volume through biosimilar entry — Humira benchmark.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350520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F9C8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440680"/>
            <a:ext cx="3139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9C84D"/>
                </a:solidFill>
                <a:latin typeface="Calibri"/>
              </a:rPr>
              <a:t>DEFEND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641848"/>
            <a:ext cx="313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Patient retention — Co-pay + hub + bridge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8160" y="5394960"/>
            <a:ext cx="350520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F9C8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1040" y="5440680"/>
            <a:ext cx="3139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9C84D"/>
                </a:solidFill>
                <a:latin typeface="Calibri"/>
              </a:rPr>
              <a:t>SHIFT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1040" y="5641848"/>
            <a:ext cx="313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Commercial weight — Adjacent indication launch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16240" y="5394960"/>
            <a:ext cx="350520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F9C8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99120" y="5440680"/>
            <a:ext cx="3139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9C84D"/>
                </a:solidFill>
                <a:latin typeface="Calibri"/>
              </a:rPr>
              <a:t>PRESERVE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9120" y="5641848"/>
            <a:ext cx="313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Loyalty + access — KOL + payer fortifications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1996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F9C84D"/>
                </a:solidFill>
                <a:latin typeface="Calibri"/>
              </a:rPr>
              <a:t>Worked example  ·  fictional brand  ·  numbers directional from public benchmarks (Humira, Stelara, Remicade)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CADCFC"/>
                </a:solidFill>
                <a:latin typeface="Calibri"/>
              </a:rPr>
              <a:t>Brand defense scenario  ·  produced by the Rapid POV Engine  ·  ~75 minutes from initial brief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CADCFC"/>
                </a:solidFill>
                <a:latin typeface="Calibri"/>
              </a:rPr>
              <a:t>1 /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 rot="19800000">
            <a:off x="-762152" y="2423160"/>
            <a:ext cx="13716000" cy="20116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0" b="1">
                <a:solidFill>
                  <a:srgbClr val="C8CCD8"/>
                </a:solidFill>
                <a:latin typeface="Cambria"/>
              </a:rPr>
              <a:t>WORKED EXAMPLE  ·  FICTIONAL BRAND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9C84D"/>
                </a:solidFill>
                <a:latin typeface="Calibri"/>
              </a:rPr>
              <a:t>SITUATION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2761"/>
                </a:solidFill>
                <a:latin typeface="Cambria"/>
              </a:rPr>
              <a:t>A $1B specialty inflammation biologic enters the most exposed 18 months in its lifecycle.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26567" y="2194560"/>
            <a:ext cx="3657600" cy="2377440"/>
          </a:xfrm>
          <a:prstGeom prst="rect">
            <a:avLst/>
          </a:prstGeom>
          <a:solidFill>
            <a:srgbClr val="F6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6567" y="2194560"/>
            <a:ext cx="3657600" cy="73152"/>
          </a:xfrm>
          <a:prstGeom prst="rect">
            <a:avLst/>
          </a:prstGeom>
          <a:solidFill>
            <a:srgbClr val="F9C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327" y="246888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1E2761"/>
                </a:solidFill>
                <a:latin typeface="Cambria"/>
              </a:rPr>
              <a:t>$1B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327" y="32461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B7280"/>
                </a:solidFill>
                <a:latin typeface="Calibri"/>
              </a:rPr>
              <a:t>US revenue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361188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>Established specialty position. Loyal prescriber base across rheumatology, dermatology, gastroenterology.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67047" y="2194560"/>
            <a:ext cx="3657600" cy="2377440"/>
          </a:xfrm>
          <a:prstGeom prst="rect">
            <a:avLst/>
          </a:prstGeom>
          <a:solidFill>
            <a:srgbClr val="F6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7047" y="2194560"/>
            <a:ext cx="3657600" cy="73152"/>
          </a:xfrm>
          <a:prstGeom prst="rect">
            <a:avLst/>
          </a:prstGeom>
          <a:solidFill>
            <a:srgbClr val="F9C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2807" y="246888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1E2761"/>
                </a:solidFill>
                <a:latin typeface="Cambria"/>
              </a:rPr>
              <a:t>12 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2807" y="32461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B7280"/>
                </a:solidFill>
                <a:latin typeface="Calibri"/>
              </a:rPr>
              <a:t>biosimilar entry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2807" y="361188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>First biosimilar approval expected within 12 months. Payer step-edit pressure already building in commercial books.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7527" y="2194560"/>
            <a:ext cx="3657600" cy="2377440"/>
          </a:xfrm>
          <a:prstGeom prst="rect">
            <a:avLst/>
          </a:prstGeom>
          <a:solidFill>
            <a:srgbClr val="F6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7527" y="2194560"/>
            <a:ext cx="3657600" cy="73152"/>
          </a:xfrm>
          <a:prstGeom prst="rect">
            <a:avLst/>
          </a:prstGeom>
          <a:solidFill>
            <a:srgbClr val="F9C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73287" y="246888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1E2761"/>
                </a:solidFill>
                <a:latin typeface="Cambria"/>
              </a:rPr>
              <a:t>6 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3287" y="32461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B7280"/>
                </a:solidFill>
                <a:latin typeface="Calibri"/>
              </a:rPr>
              <a:t>adjacent indication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3287" y="361188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>Adjacent indication launches in 6 months. Material upside if defended franchise stays intact through transition.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1F2937"/>
                </a:solidFill>
                <a:latin typeface="Calibri"/>
              </a:rPr>
              <a:t>Three vectors converging in one window. Each is manageable alone. Together they reshape the franchise.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INFLAMMATION BIOLOGIC · 18-MONTH DEFENSE  ·  WORKING POV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 rot="19800000">
            <a:off x="-762152" y="2423160"/>
            <a:ext cx="13716000" cy="20116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0" b="1">
                <a:solidFill>
                  <a:srgbClr val="C8CCD8"/>
                </a:solidFill>
                <a:latin typeface="Cambria"/>
              </a:rPr>
              <a:t>WORKED EXAMPLE  ·  FICTIONAL BRAND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9C84D"/>
                </a:solidFill>
                <a:latin typeface="Calibri"/>
              </a:rPr>
              <a:t>COMPLICATION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Prescriber loyalty alone won't hold. The switch happens at the pharmacy counter and on the EOB.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9C84D"/>
                </a:solidFill>
                <a:latin typeface="Calibri"/>
              </a:rPr>
              <a:t>THREE PRESSURE 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514600"/>
            <a:ext cx="457200" cy="457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514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9C84D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1460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2937"/>
                </a:solidFill>
                <a:latin typeface="Calibri"/>
              </a:rPr>
              <a:t>Payer step-edits force a trial of biosimilar before brand.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80360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B7280"/>
                </a:solidFill>
                <a:latin typeface="Calibri"/>
              </a:rPr>
              <a:t>Patients unwilling to navigate the step lapse — even when the prescriber prefers brand.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703320"/>
            <a:ext cx="457200" cy="457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7033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9C84D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70332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2937"/>
                </a:solidFill>
                <a:latin typeface="Calibri"/>
              </a:rPr>
              <a:t>Patient out-of-pocket diverges sharply at copay reset.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69080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B7280"/>
                </a:solidFill>
                <a:latin typeface="Calibri"/>
              </a:rPr>
              <a:t>Without an aggressive co-pay program, branded biologic OOP can be 4–6x biosimilar at the counter.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92040"/>
            <a:ext cx="457200" cy="457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920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9C84D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89204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2937"/>
                </a:solidFill>
                <a:latin typeface="Calibri"/>
              </a:rPr>
              <a:t>Adjacent indication launch competes for HCP attention.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257800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B7280"/>
                </a:solidFill>
                <a:latin typeface="Calibri"/>
              </a:rPr>
              <a:t>Internal field force has only so many quality calls. Without redeployment design, the new launch starves the defense.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79" y="2103120"/>
            <a:ext cx="4389120" cy="3657600"/>
          </a:xfrm>
          <a:prstGeom prst="rect">
            <a:avLst/>
          </a:prstGeom>
          <a:solidFill>
            <a:srgbClr val="141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98079" y="2103120"/>
            <a:ext cx="73152" cy="3657600"/>
          </a:xfrm>
          <a:prstGeom prst="rect">
            <a:avLst/>
          </a:prstGeom>
          <a:solidFill>
            <a:srgbClr val="F9C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39" y="24688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9C84D"/>
                </a:solidFill>
                <a:latin typeface="Calibri"/>
              </a:rPr>
              <a:t>THE REMICADE LESSON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39" y="2880360"/>
            <a:ext cx="3657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Time is not a defense.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39" y="3657600"/>
            <a:ext cx="3657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CADCFC"/>
                </a:solidFill>
                <a:latin typeface="Calibri"/>
              </a:rPr>
              <a:t>Biosimilars took 7 years to reach 50% of Remicade share — and J&amp;J still lost 80% of US revenue. They underinvested in patient retention. We will not repeat that.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39" y="53492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CADCFC"/>
                </a:solidFill>
                <a:latin typeface="Calibri"/>
              </a:rPr>
              <a:t>J&amp;J 2016–2023 10-Ks · IQVIA biosimilar tracking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INFLAMMATION BIOLOGIC · 18-MONTH DEFENSE  ·  WORKING POV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 rot="19800000">
            <a:off x="-762152" y="2423160"/>
            <a:ext cx="13716000" cy="20116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0" b="1">
                <a:solidFill>
                  <a:srgbClr val="C8CCD8"/>
                </a:solidFill>
                <a:latin typeface="Cambria"/>
              </a:rPr>
              <a:t>WORKED EXAMPLE  ·  FICTIONAL BRAND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9C84D"/>
                </a:solidFill>
                <a:latin typeface="Calibri"/>
              </a:rPr>
              <a:t>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E2761"/>
                </a:solidFill>
                <a:latin typeface="Cambria"/>
              </a:rPr>
              <a:t>Three tracks running in parallel, sequenced by what each defends and when it activates.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26567" y="1737360"/>
            <a:ext cx="3657600" cy="3383280"/>
          </a:xfrm>
          <a:prstGeom prst="rect">
            <a:avLst/>
          </a:prstGeom>
          <a:solidFill>
            <a:srgbClr val="F6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6567" y="1737360"/>
            <a:ext cx="3657600" cy="3657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887" y="179222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9C84D"/>
                </a:solidFill>
                <a:latin typeface="Calibri"/>
              </a:rPr>
              <a:t>TRACK 1 · DEFEND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887" y="224028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E2761"/>
                </a:solidFill>
                <a:latin typeface="Cambria"/>
              </a:rPr>
              <a:t>Patient retention.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887" y="269748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6B7280"/>
                </a:solidFill>
                <a:latin typeface="Calibri"/>
              </a:rPr>
              <a:t>Make switching cost more than staying. Build the moat between patient and biosimilar.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0887" y="3520440"/>
            <a:ext cx="31089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Co-pay assistance — raise cap, broaden eligibility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Hub services — faster PA, denial appeals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Bridge / free-drug for payer-mandated step-throughs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Patient-direct retention comms + adherence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6567" y="4572000"/>
            <a:ext cx="3657600" cy="548640"/>
          </a:xfrm>
          <a:prstGeom prst="rect">
            <a:avLst/>
          </a:prstGeom>
          <a:solidFill>
            <a:srgbClr val="141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0887" y="46177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CADCFC"/>
                </a:solidFill>
                <a:latin typeface="Calibri"/>
              </a:rPr>
              <a:t>Humira analog · ~70% volume retained 18mo post-biosimilar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67047" y="1737360"/>
            <a:ext cx="3657600" cy="3383280"/>
          </a:xfrm>
          <a:prstGeom prst="rect">
            <a:avLst/>
          </a:prstGeom>
          <a:solidFill>
            <a:srgbClr val="F6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67047" y="1737360"/>
            <a:ext cx="3657600" cy="3657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1367" y="179222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9C84D"/>
                </a:solidFill>
                <a:latin typeface="Calibri"/>
              </a:rPr>
              <a:t>TRACK 2 · 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1367" y="224028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E2761"/>
                </a:solidFill>
                <a:latin typeface="Cambria"/>
              </a:rPr>
              <a:t>Commercial weight.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367" y="269748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6B7280"/>
                </a:solidFill>
                <a:latin typeface="Calibri"/>
              </a:rPr>
              <a:t>Move offensive resource toward the adjacent indication. Don't starve the launch to fund the defense.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1367" y="3520440"/>
            <a:ext cx="31089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Adjacent launch HCP plan stays fully funded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Differentiate adjacent positioning — not just additive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KOL + medical affairs — emphasize new indication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Field redeployment design before launch month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67047" y="4572000"/>
            <a:ext cx="3657600" cy="548640"/>
          </a:xfrm>
          <a:prstGeom prst="rect">
            <a:avLst/>
          </a:prstGeom>
          <a:solidFill>
            <a:srgbClr val="141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1367" y="46177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CADCFC"/>
                </a:solidFill>
                <a:latin typeface="Calibri"/>
              </a:rPr>
              <a:t>Stelara analog · IBD push grew gastro mix 30% → 55%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7527" y="1737360"/>
            <a:ext cx="3657600" cy="3383280"/>
          </a:xfrm>
          <a:prstGeom prst="rect">
            <a:avLst/>
          </a:prstGeom>
          <a:solidFill>
            <a:srgbClr val="F6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07527" y="1737360"/>
            <a:ext cx="3657600" cy="3657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81847" y="179222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9C84D"/>
                </a:solidFill>
                <a:latin typeface="Calibri"/>
              </a:rPr>
              <a:t>TRACK 3 · PRESERVE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1847" y="224028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E2761"/>
                </a:solidFill>
                <a:latin typeface="Cambria"/>
              </a:rPr>
              <a:t>Loyalty + access.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1847" y="269748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6B7280"/>
                </a:solidFill>
                <a:latin typeface="Calibri"/>
              </a:rPr>
              <a:t>Lock down the strategic perimeter — payer contracts, KOL voice, evidence platform.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1847" y="3520440"/>
            <a:ext cx="31089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Multi-year payer rebate locks before biosimilar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KOL evidence platform — RWE, registry, post-hoc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Switch-back program when biosimilars fail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Sub-indication contracting (rheum / derm / gastro)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07527" y="4572000"/>
            <a:ext cx="3657600" cy="548640"/>
          </a:xfrm>
          <a:prstGeom prst="rect">
            <a:avLst/>
          </a:prstGeom>
          <a:solidFill>
            <a:srgbClr val="141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81847" y="46177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CADCFC"/>
                </a:solidFill>
                <a:latin typeface="Calibri"/>
              </a:rPr>
              <a:t>AbbVie playbook · pre-launch contract locks held the window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349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9C84D"/>
                </a:solidFill>
                <a:latin typeface="Calibri"/>
              </a:rPr>
              <a:t>STAGE-GATES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715000"/>
            <a:ext cx="10881360" cy="2743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85216" y="5669280"/>
            <a:ext cx="118872" cy="118872"/>
          </a:xfrm>
          <a:prstGeom prst="rect">
            <a:avLst/>
          </a:prstGeom>
          <a:solidFill>
            <a:srgbClr val="F9C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" y="585216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1E2761"/>
                </a:solidFill>
                <a:latin typeface="Calibri"/>
              </a:rPr>
              <a:t>Now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-411480" y="6062472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6B7280"/>
                </a:solidFill>
                <a:latin typeface="Calibri"/>
              </a:rPr>
              <a:t>Activate Tracks 1 + 3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23183" y="5669280"/>
            <a:ext cx="118872" cy="118872"/>
          </a:xfrm>
          <a:prstGeom prst="rect">
            <a:avLst/>
          </a:prstGeom>
          <a:solidFill>
            <a:srgbClr val="F9C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029407" y="585216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1E2761"/>
                </a:solidFill>
                <a:latin typeface="Calibri"/>
              </a:rPr>
              <a:t>Mo 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26487" y="6062472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6B7280"/>
                </a:solidFill>
                <a:latin typeface="Calibri"/>
              </a:rPr>
              <a:t>Adjacent readiness check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69964" y="5669280"/>
            <a:ext cx="118872" cy="118872"/>
          </a:xfrm>
          <a:prstGeom prst="rect">
            <a:avLst/>
          </a:prstGeom>
          <a:solidFill>
            <a:srgbClr val="F9C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76188" y="585216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1E2761"/>
                </a:solidFill>
                <a:latin typeface="Calibri"/>
              </a:rPr>
              <a:t>Mo 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73268" y="6062472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6B7280"/>
                </a:solidFill>
                <a:latin typeface="Calibri"/>
              </a:rPr>
              <a:t>Adjacent launch · weight shift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507931" y="5669280"/>
            <a:ext cx="118872" cy="118872"/>
          </a:xfrm>
          <a:prstGeom prst="rect">
            <a:avLst/>
          </a:prstGeom>
          <a:solidFill>
            <a:srgbClr val="F9C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14155" y="585216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1E2761"/>
                </a:solidFill>
                <a:latin typeface="Calibri"/>
              </a:rPr>
              <a:t>Mo 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11235" y="6062472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6B7280"/>
                </a:solidFill>
                <a:latin typeface="Calibri"/>
              </a:rPr>
              <a:t>Biosimilar · re-evaluate mix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466576" y="5669280"/>
            <a:ext cx="118872" cy="118872"/>
          </a:xfrm>
          <a:prstGeom prst="rect">
            <a:avLst/>
          </a:prstGeom>
          <a:solidFill>
            <a:srgbClr val="F9C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972800" y="585216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1E2761"/>
                </a:solidFill>
                <a:latin typeface="Calibri"/>
              </a:rPr>
              <a:t>Mo 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69880" y="6062472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6B7280"/>
                </a:solidFill>
                <a:latin typeface="Calibri"/>
              </a:rPr>
              <a:t>Stabilized post-biosimilar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INFLAMMATION BIOLOGIC · 18-MONTH DEFENSE  ·  WORKING POV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 rot="19800000">
            <a:off x="-762152" y="2423160"/>
            <a:ext cx="13716000" cy="20116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0" b="1">
                <a:solidFill>
                  <a:srgbClr val="C8CCD8"/>
                </a:solidFill>
                <a:latin typeface="Cambria"/>
              </a:rPr>
              <a:t>WORKED EXAMPLE  ·  FICTIONAL BRAND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9C84D"/>
                </a:solidFill>
                <a:latin typeface="Calibri"/>
              </a:rPr>
              <a:t>INDUSTRY ANALOGS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E2761"/>
                </a:solidFill>
                <a:latin typeface="Cambria"/>
              </a:rPr>
              <a:t>Three precedents tell us where to spend, where to bet, and what it costs to ignore.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5212080" cy="4023360"/>
          </a:xfrm>
          <a:prstGeom prst="rect">
            <a:avLst/>
          </a:prstGeom>
          <a:solidFill>
            <a:srgbClr val="F6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5740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alibri"/>
              </a:rPr>
              <a:t>VOLUME RETAINED, 18 MONTHS POST-BIOSIMILAR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B7280"/>
                </a:solidFill>
                <a:latin typeface="Calibri"/>
              </a:rPr>
              <a:t>Brand share remaining (directional)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2788920"/>
            <a:ext cx="9144" cy="233172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516636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280"/>
                </a:solidFill>
                <a:latin typeface="Calibri"/>
              </a:rPr>
              <a:t>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2788920"/>
            <a:ext cx="9144" cy="233172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516636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280"/>
                </a:solidFill>
                <a:latin typeface="Calibri"/>
              </a:rPr>
              <a:t>25%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2788920"/>
            <a:ext cx="9144" cy="233172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516636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280"/>
                </a:solidFill>
                <a:latin typeface="Calibri"/>
              </a:rPr>
              <a:t>50%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0560" y="2788920"/>
            <a:ext cx="9144" cy="233172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0" y="516636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280"/>
                </a:solidFill>
                <a:latin typeface="Calibri"/>
              </a:rPr>
              <a:t>75%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94960" y="2788920"/>
            <a:ext cx="9144" cy="233172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0" y="516636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280"/>
                </a:solidFill>
                <a:latin typeface="Calibri"/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862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Humira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37360" y="2880360"/>
            <a:ext cx="2560320" cy="3657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70832" y="291693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~70%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2095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B7280"/>
                </a:solidFill>
                <a:latin typeface="Calibri"/>
              </a:rPr>
              <a:t>AbbVie · active defense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63931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Stelara*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37360" y="3657600"/>
            <a:ext cx="2011680" cy="365760"/>
          </a:xfrm>
          <a:prstGeom prst="rect">
            <a:avLst/>
          </a:prstGeom>
          <a:solidFill>
            <a:srgbClr val="F9C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22192" y="369417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~55%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98678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B7280"/>
                </a:solidFill>
                <a:latin typeface="Calibri"/>
              </a:rPr>
              <a:t>J&amp;J · indication-mix shift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4165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Remicade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37360" y="4434840"/>
            <a:ext cx="731520" cy="36576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42032" y="447141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~20%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7640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B7280"/>
                </a:solidFill>
                <a:latin typeface="Calibri"/>
              </a:rPr>
              <a:t>J&amp;J · passive defense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34924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6B7280"/>
                </a:solidFill>
                <a:latin typeface="Calibri"/>
              </a:rPr>
              <a:t>*Stelara figure reflects volume held in IBD where switching friction is highest.
Directional ranges; validate with IQVIA NPA, brand teams, and analyst consensus.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1828800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9C84D"/>
                </a:solidFill>
                <a:latin typeface="Calibri"/>
              </a:rPr>
              <a:t>WHAT EACH TELLS 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214884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E2761"/>
                </a:solidFill>
                <a:latin typeface="Calibri"/>
              </a:rPr>
              <a:t>HUMIRA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2377440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F2937"/>
                </a:solidFill>
                <a:latin typeface="Calibri"/>
              </a:rPr>
              <a:t>Patient-side moat is the highest-ROI lever.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2788920"/>
            <a:ext cx="5852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6B7280"/>
                </a:solidFill>
                <a:latin typeface="Calibri"/>
              </a:rPr>
              <a:t>Co-pay program + hub + bridge held ~70% of volume 18 months in. Defended ~$4–5B vs. consensus base case.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342900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E2761"/>
                </a:solidFill>
                <a:latin typeface="Calibri"/>
              </a:rPr>
              <a:t>STELARA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3657600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F2937"/>
                </a:solidFill>
                <a:latin typeface="Calibri"/>
              </a:rPr>
              <a:t>Push volume into hard-to-switch indications pre-biosimilar.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4069080"/>
            <a:ext cx="5852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6B7280"/>
                </a:solidFill>
                <a:latin typeface="Calibri"/>
              </a:rPr>
              <a:t>IBD share of total Stelara grew 30% → 55% by sequenced indication expansions. Adjacent launch is our version of this.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470916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E2761"/>
                </a:solidFill>
                <a:latin typeface="Calibri"/>
              </a:rPr>
              <a:t>REMICADE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4937760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F2937"/>
                </a:solidFill>
                <a:latin typeface="Calibri"/>
              </a:rPr>
              <a:t>Time alone is not a defense.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5349240"/>
            <a:ext cx="5852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6B7280"/>
                </a:solidFill>
                <a:latin typeface="Calibri"/>
              </a:rPr>
              <a:t>7 years to 50% biosimilar share — but $4.8B → $0.9B revenue decline. Underinvested in patient retention.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INFLAMMATION BIOLOGIC · 18-MONTH DEFENSE  ·  WORKING POV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 rot="19800000">
            <a:off x="-762152" y="2423160"/>
            <a:ext cx="13716000" cy="20116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0" b="1">
                <a:solidFill>
                  <a:srgbClr val="C8CCD8"/>
                </a:solidFill>
                <a:latin typeface="Cambria"/>
              </a:rPr>
              <a:t>WORKED EXAMPLE  ·  FICTIONAL BRAND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9C84D"/>
                </a:solidFill>
                <a:latin typeface="Calibri"/>
              </a:rPr>
              <a:t>BUDGET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$35–55M redeployment, fully self-funded. Adjacent launch protected.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5577840" cy="4297680"/>
          </a:xfrm>
          <a:prstGeom prst="rect">
            <a:avLst/>
          </a:prstGeom>
          <a:solidFill>
            <a:srgbClr val="F6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557784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0195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9C84D"/>
                </a:solidFill>
                <a:latin typeface="Calibri"/>
              </a:rPr>
              <a:t>↑  WHERE BUDGET GOES — PATIENT 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Co-pay assistance expansion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4688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Cambria"/>
              </a:rPr>
              <a:t>$15–35M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Raise cap, broaden eligibility, extend duration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461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Hub services intensification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32461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Cambria"/>
              </a:rPr>
              <a:t>$8–15M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20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Nurse navigators, faster PA, denial appeals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Bridge / free-drug program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402336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Cambria"/>
              </a:rPr>
              <a:t>$5–12M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For payer-mandated step-throughs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006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Patient retention comms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48006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Cambria"/>
              </a:rPr>
              <a:t>$4–8M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749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Adherence app, peer support, MyBrand-style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486400"/>
            <a:ext cx="5212080" cy="5029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60527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9C84D"/>
                </a:solidFill>
                <a:latin typeface="Calibri"/>
              </a:rPr>
              <a:t>PATIENT SERVICES SUBTOTAL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555955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$32–70M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1828800"/>
            <a:ext cx="5577840" cy="4297680"/>
          </a:xfrm>
          <a:prstGeom prst="rect">
            <a:avLst/>
          </a:prstGeom>
          <a:solidFill>
            <a:srgbClr val="F6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828800"/>
            <a:ext cx="5577840" cy="411480"/>
          </a:xfrm>
          <a:prstGeom prst="rect">
            <a:avLst/>
          </a:prstGeom>
          <a:solidFill>
            <a:srgbClr val="141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190195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9C84D"/>
                </a:solidFill>
                <a:latin typeface="Calibri"/>
              </a:rPr>
              <a:t>↓  WHERE IT COMES FROM — REDEPLOYMENT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24688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HCP promo · established indication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24688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Cambria"/>
              </a:rPr>
              <a:t>−$20–40M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Reduce reach to lapsed/low-decile HCPs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32461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DTC · established indication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32461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Cambria"/>
              </a:rPr>
              <a:t>−$15–30M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520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Mature awareness; marginal dollar buys little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40233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Non-critical medical affairs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402336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Cambria"/>
              </a:rPr>
              <a:t>−$3–8M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42976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Cut tail conferences and redundant ad boards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48006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9C84D"/>
                </a:solidFill>
                <a:latin typeface="Calibri"/>
              </a:rPr>
              <a:t>DO NOT CUT — adjacent launch spend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48006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Cambria"/>
              </a:rP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50749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The launch IS part of the defense (Stelara analog)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5486400"/>
            <a:ext cx="5212080" cy="502920"/>
          </a:xfrm>
          <a:prstGeom prst="rect">
            <a:avLst/>
          </a:prstGeom>
          <a:solidFill>
            <a:srgbClr val="141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0" y="560527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9C84D"/>
                </a:solidFill>
                <a:latin typeface="Calibri"/>
              </a:rPr>
              <a:t>REALLOCATION ENVELOPE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0" y="555955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−$38–78M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INFLAMMATION BIOLOGIC · 18-MONTH DEFENSE  ·  WORKING POV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 rot="19800000">
            <a:off x="-762152" y="2423160"/>
            <a:ext cx="13716000" cy="20116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0" b="1">
                <a:solidFill>
                  <a:srgbClr val="4A558C"/>
                </a:solidFill>
                <a:latin typeface="Cambria"/>
              </a:rPr>
              <a:t>WORKED EXAMPLE  ·  FICTIONAL BRAND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9C84D"/>
                </a:solidFill>
                <a:latin typeface="Calibri"/>
              </a:rPr>
              <a:t>STAGE-GATES + WHAT TO DEFEND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Cambria"/>
              </a:rPr>
              <a:t>Three checkpoints. Three things we'll be asked to defend.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19"/>
            <a:ext cx="3657600" cy="2194560"/>
          </a:xfrm>
          <a:prstGeom prst="rect">
            <a:avLst/>
          </a:prstGeom>
          <a:solidFill>
            <a:srgbClr val="1E2761"/>
          </a:solidFill>
          <a:ln w="6350">
            <a:solidFill>
              <a:srgbClr val="F9C8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399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9C84D"/>
                </a:solidFill>
                <a:latin typeface="Calibri"/>
              </a:rPr>
              <a:t>MONTH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39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Adjacent launch readiness 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54679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CADCFC"/>
                </a:solidFill>
                <a:latin typeface="Calibri"/>
              </a:rPr>
              <a:t>Sales force pivot tested. KOL platform active. Patient-services spend at run-rate. Decision: pull launch trigger or extend prep.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1874519"/>
            <a:ext cx="3657600" cy="2194560"/>
          </a:xfrm>
          <a:prstGeom prst="rect">
            <a:avLst/>
          </a:prstGeom>
          <a:solidFill>
            <a:srgbClr val="1E2761"/>
          </a:solidFill>
          <a:ln w="6350">
            <a:solidFill>
              <a:srgbClr val="F9C8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2057399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9C84D"/>
                </a:solidFill>
                <a:latin typeface="Calibri"/>
              </a:rPr>
              <a:t>MONTH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377439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Adjacent launch + weight shift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154679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CADCFC"/>
                </a:solidFill>
                <a:latin typeface="Calibri"/>
              </a:rPr>
              <a:t>First 90-day adjacent NRx and HCP reach vs. plan. Defense holds ≥95% baseline volume. Re-allocate field calls toward new indication.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21040" y="1874519"/>
            <a:ext cx="3657600" cy="2194560"/>
          </a:xfrm>
          <a:prstGeom prst="rect">
            <a:avLst/>
          </a:prstGeom>
          <a:solidFill>
            <a:srgbClr val="1E2761"/>
          </a:solidFill>
          <a:ln w="6350">
            <a:solidFill>
              <a:srgbClr val="F9C8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2057399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9C84D"/>
                </a:solidFill>
                <a:latin typeface="Calibri"/>
              </a:rPr>
              <a:t>MONTH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377439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Biosimilar entry · re-evaluate mix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3154679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CADCFC"/>
                </a:solidFill>
                <a:latin typeface="Calibri"/>
              </a:rPr>
              <a:t>Patient retention at 90 days post-biosimilar. If &lt;60%, escalate co-pay / bridge. If &gt;70%, scale back bridge spend.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519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9C84D"/>
                </a:solidFill>
                <a:latin typeface="Calibri"/>
              </a:rPr>
              <a:t>READY TO DEFEND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544568"/>
            <a:ext cx="365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9C84D"/>
                </a:solidFill>
                <a:latin typeface="Cambria"/>
              </a:rPr>
              <a:t>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4456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The 6-month adjacent-launch window is tight.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79145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CADCFC"/>
                </a:solidFill>
                <a:latin typeface="Calibri"/>
              </a:rPr>
              <a:t>We compress prep timeline. Pre-launch field readiness must hit week 16 or we slip and fund Track 1 from reserves.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138928"/>
            <a:ext cx="365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9C84D"/>
                </a:solidFill>
                <a:latin typeface="Cambria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3892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Sub-indication granularity (rheum vs. derm vs. gastro).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38581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CADCFC"/>
                </a:solidFill>
                <a:latin typeface="Calibri"/>
              </a:rPr>
              <a:t>Tilt patient-services and payer plays toward highest switching friction. Validate with by-specialty IQVIA NPA reads.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733288"/>
            <a:ext cx="365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9C84D"/>
                </a:solidFill>
                <a:latin typeface="Cambria"/>
              </a:rPr>
              <a:t>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73328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Payer-mandate risk if biosimilar gets exclusive.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98017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CADCFC"/>
                </a:solidFill>
                <a:latin typeface="Calibri"/>
              </a:rPr>
              <a:t>If a major PBM goes biosimilar-exclusive, bridge cost runs above range. Pre-modeled: +$8–15M offset by deeper HCP cut.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CADCFC"/>
                </a:solidFill>
                <a:latin typeface="Calibri"/>
              </a:rPr>
              <a:t>Drop a note for the working artifacts: raulkulkarni@gmail.com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CADCFC"/>
                </a:solidFill>
                <a:latin typeface="Calibri"/>
              </a:rP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