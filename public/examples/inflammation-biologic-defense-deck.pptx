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RECOMMENDATION  ·  WORKING POV  ·  FOR LEADERSHIP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Run a 3-track sequenced defense — Defend, Shift, Preserve — with stage-gates at months 3, 6, 12 tied to adjacent-launch traction and biosimilar uptake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$35–55M redeployment, fully self-funded from established-indication HCP and DTC spend. Adjacent indication launch stays fully funded. Holds 60–70% of patient volume through biosimilar entry — Humira benchmark.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394960"/>
            <a:ext cx="3505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9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313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DEFEND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41848"/>
            <a:ext cx="313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Patient retention — Co-pay + hub + bridge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5394960"/>
            <a:ext cx="3505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9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1040" y="5440680"/>
            <a:ext cx="313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1040" y="5641848"/>
            <a:ext cx="313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Commercial weight — Adjacent indication launch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6240" y="5394960"/>
            <a:ext cx="3505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9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9120" y="5440680"/>
            <a:ext cx="313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PRESERVE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9120" y="5641848"/>
            <a:ext cx="313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Loyalty + access — KOL + payer fortifications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CADCFC"/>
                </a:solidFill>
                <a:latin typeface="Calibri"/>
              </a:rPr>
              <a:t>Brand defense scenario  ·  produced by the Rapid POV Engine  ·  ~75 minutes from initial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ADCFC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A $1B specialty inflammation biologic enters the most exposed 18 months in its lifecycle.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567" y="2194560"/>
            <a:ext cx="3657600" cy="237744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6567" y="2194560"/>
            <a:ext cx="3657600" cy="73152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327" y="24688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E2761"/>
                </a:solidFill>
                <a:latin typeface="Cambria"/>
              </a:rPr>
              <a:t>$1B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3246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US revenue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36118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Established specialty position. Loyal prescriber base across rheumatology, dermatology, gastroenterology.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047" y="2194560"/>
            <a:ext cx="3657600" cy="237744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7047" y="2194560"/>
            <a:ext cx="3657600" cy="73152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807" y="24688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E2761"/>
                </a:solidFill>
                <a:latin typeface="Cambria"/>
              </a:rPr>
              <a:t>12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3246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biosimilar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36118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First biosimilar approval expected within 12 months. Payer step-edit pressure already building in commercial books.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527" y="2194560"/>
            <a:ext cx="3657600" cy="237744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527" y="2194560"/>
            <a:ext cx="3657600" cy="73152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3287" y="24688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E2761"/>
                </a:solidFill>
                <a:latin typeface="Cambria"/>
              </a:rPr>
              <a:t>6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287" y="3246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adjacent indication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87" y="36118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Adjacent indication launches in 6 months. Material upside if defended franchise stays intact through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1F2937"/>
                </a:solidFill>
                <a:latin typeface="Calibri"/>
              </a:rPr>
              <a:t>Three vectors converging in one window. Each is manageable alone. Together they reshape the franchise.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INFLAMMATION BIOLOGIC · 18-MONTH DEFENSE  ·  WORKING POV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COMPLICATION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Prescriber loyalty alone won't hold. The switch happens at the pharmacy counter and on the EOB.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THREE PRESSURE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9C84D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Payer step-edits force a trial of biosimilar before brand.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Patients unwilling to navigate the step lapse — even when the prescriber prefers brand.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9C84D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Patient out-of-pocket diverges sharply at copay reset.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Without an aggressive co-pay program, branded biologic OOP can be 4–6x biosimilar at the counter.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9C84D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Adjacent indication launch competes for HCP attention.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Internal field force has only so many quality calls. Without redeployment design, the new launch starves the defense.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2103120"/>
            <a:ext cx="4389120" cy="365760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2103120"/>
            <a:ext cx="73152" cy="3657600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39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THE REMICADE LESSON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39" y="28803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Time is not a defense.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39" y="365760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Biosimilars took 7 years to reach 50% of Remicade share — and J&amp;J still lost 80% of US revenue. They underinvested in patient retention. We will not repeat that.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39" y="5349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CADCFC"/>
                </a:solidFill>
                <a:latin typeface="Calibri"/>
              </a:rPr>
              <a:t>J&amp;J 2016–2023 10-Ks · IQVIA biosimilar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INFLAMMATION BIOLOGIC · 18-MONTH DEFENSE  ·  WORKING POV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Three tracks running in parallel, sequenced by what each defends and when it activates.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567" y="1737360"/>
            <a:ext cx="3657600" cy="338328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6567" y="1737360"/>
            <a:ext cx="365760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887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TRACK 1 · DEFEND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22402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Cambria"/>
              </a:rPr>
              <a:t>Patient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26974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Make switching cost more than staying. Build the moat between patient and biosimilar.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35204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Co-pay assistance — raise cap, broaden eligibility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Hub services — faster PA, denial appeals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Bridge / free-drug for payer-mandated step-throughs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Patient-direct retention comms + adherence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567" y="4572000"/>
            <a:ext cx="3657600" cy="54864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617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CADCFC"/>
                </a:solidFill>
                <a:latin typeface="Calibri"/>
              </a:rPr>
              <a:t>Humira analog · ~70% volume retained 18mo post-biosimilar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047" y="1737360"/>
            <a:ext cx="3657600" cy="338328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7047" y="1737360"/>
            <a:ext cx="365760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367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TRACK 2 ·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22402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Cambria"/>
              </a:rPr>
              <a:t>Commercial weight.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367" y="26974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Move offensive resource toward the adjacent indication. Don't starve the launch to fund the defense.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35204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Adjacent launch HCP plan stays fully funded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Differentiate adjacent positioning — not just additive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KOL + medical affairs — emphasize new indication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Field redeployment design before launch 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047" y="4572000"/>
            <a:ext cx="3657600" cy="54864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617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CADCFC"/>
                </a:solidFill>
                <a:latin typeface="Calibri"/>
              </a:rPr>
              <a:t>Stelara analog · IBD push grew gastro mix 30% → 55%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7527" y="1737360"/>
            <a:ext cx="3657600" cy="338328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7527" y="1737360"/>
            <a:ext cx="365760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1847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TRACK 3 · PRESERVE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22402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Cambria"/>
              </a:rPr>
              <a:t>Loyalty + access.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26974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Lock down the strategic perimeter — payer contracts, KOL voice, evidence platform.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847" y="35204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Multi-year payer rebate locks before biosimilar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KOL evidence platform — RWE, registry, post-hoc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Switch-back program when biosimilars fail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Sub-indication contracting (rheum / derm / gastro)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7527" y="4572000"/>
            <a:ext cx="3657600" cy="54864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617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CADCFC"/>
                </a:solidFill>
                <a:latin typeface="Calibri"/>
              </a:rPr>
              <a:t>AbbVie playbook · pre-launch contract locks held the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STAGE-GATES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15000"/>
            <a:ext cx="10881360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216" y="5669280"/>
            <a:ext cx="118872" cy="118872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" y="58521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411480" y="606247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Activate Tracks 1 + 3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3183" y="5669280"/>
            <a:ext cx="118872" cy="118872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29407" y="58521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Mo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487" y="606247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Adjacent readiness check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9964" y="5669280"/>
            <a:ext cx="118872" cy="118872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6188" y="58521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Mo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3268" y="606247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Adjacent launch · weight shift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7931" y="5669280"/>
            <a:ext cx="118872" cy="118872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4155" y="58521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Mo 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1235" y="606247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Biosimilar · re-evaluate mix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66576" y="5669280"/>
            <a:ext cx="118872" cy="118872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Mo 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06247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Stabilized post-biosimilar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INFLAMMATION BIOLOGIC · 18-MONTH DEFENSE  ·  WORKING POV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INDUSTRY ANALOGS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Three precedents tell us where to spend, where to bet, and what it costs to ignore.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212080" cy="402336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VOLUME RETAINED, 18 MONTHS POST-BIOSIMILAR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Brand share remaining (directional)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788920"/>
            <a:ext cx="9144" cy="23317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5166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788920"/>
            <a:ext cx="9144" cy="23317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5166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788920"/>
            <a:ext cx="9144" cy="23317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5166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50%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788920"/>
            <a:ext cx="9144" cy="23317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5166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788920"/>
            <a:ext cx="9144" cy="23317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5166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62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Humira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2880360"/>
            <a:ext cx="256032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291693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~70%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95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AbbVie · active defense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393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Stelara*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3657600"/>
            <a:ext cx="2011680" cy="365760"/>
          </a:xfrm>
          <a:prstGeom prst="rect">
            <a:avLst/>
          </a:prstGeom>
          <a:solidFill>
            <a:srgbClr val="F9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2" y="369417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~55%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867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J&amp;J · indication-mix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Remicade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4434840"/>
            <a:ext cx="731520" cy="365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42032" y="447141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~20%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640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J&amp;J · passive defense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1">
                <a:solidFill>
                  <a:srgbClr val="6B7280"/>
                </a:solidFill>
                <a:latin typeface="Calibri"/>
              </a:rPr>
              <a:t>*Stelara figure reflects volume held in IBD where switching friction is highest.
Directional ranges; validate with IQVIA NPA, brand teams, and analyst consensus.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8288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WHAT EACH TELLS 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21488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HUMIRA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37744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Patient-side moat is the highest-ROI lever.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88920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Co-pay program + hub + bridge held ~70% of volume 18 months in. Defended ~$4–5B vs. consensus base case.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4290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STELARA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6576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Push volume into hard-to-switch indications pre-biosimilar.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069080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IBD share of total Stelara grew 30% → 55% by sequenced indication expansions. Adjacent launch is our version of this.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70916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REMICADE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9377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Time alone is not a defense.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349240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7 years to 50% biosimilar share — but $4.8B → $0.9B revenue decline. Underinvested in patient retention.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INFLAMMATION BIOLOGIC · 18-MONTH DEFENSE  ·  WORKING POV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BUDGET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$35–55M redeployment, fully self-funded. Adjacent launch protected.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577840" cy="429768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↑  WHERE BUDGET GOES — PATIENT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Co-pay assistance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4688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$15–35M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Raise cap, broaden eligibility, extend 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Hub services intensification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246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$8–15M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Nurse navigators, faster PA, denial appeals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Bridge / free-drug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$5–12M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For payer-mandated step-throughs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Patient retention comms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800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$4–8M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Adherence app, peer support, MyBrand-style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486400"/>
            <a:ext cx="521208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6052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PATIENT SERVICES SUBTOTAL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559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$32–70M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828800"/>
            <a:ext cx="5577840" cy="4297680"/>
          </a:xfrm>
          <a:prstGeom prst="rect">
            <a:avLst/>
          </a:prstGeom>
          <a:solidFill>
            <a:srgbClr val="F6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828800"/>
            <a:ext cx="5577840" cy="41148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901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↓  WHERE IT COMES FROM — REDEPLOYMENT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68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HCP promo · established indication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4688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−$20–40M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Reduce reach to lapsed/low-decile HCPs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46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DTC · established indication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246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−$15–30M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Mature awareness; marginal dollar buys little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233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Non-critical medical affairs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023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−$3–8M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Cut tail conferences and redundant ad boards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800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C84D"/>
                </a:solidFill>
                <a:latin typeface="Calibri"/>
              </a:rPr>
              <a:t>DO NOT CUT — adjacent launch spend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4800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The launch IS part of the defense (Stelara analog)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212080" cy="50292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6052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REALLOCATION ENVELOPE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5559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−$38–78M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INFLAMMATION BIOLOGIC · 18-MONTH DEFENSE  ·  WORKING POV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STAGE-GATES + WHAT TO DEFEND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Three checkpoints. Three things we'll be asked to defend.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3657600" cy="2194560"/>
          </a:xfrm>
          <a:prstGeom prst="rect">
            <a:avLst/>
          </a:prstGeom>
          <a:solidFill>
            <a:srgbClr val="1E2761"/>
          </a:solidFill>
          <a:ln w="6350">
            <a:solidFill>
              <a:srgbClr val="F9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3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MONTH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3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Adjacent launch readiness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Sales force pivot tested. KOL platform active. Patient-services spend at run-rate. Decision: pull launch trigger or extend prep.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74519"/>
            <a:ext cx="3657600" cy="2194560"/>
          </a:xfrm>
          <a:prstGeom prst="rect">
            <a:avLst/>
          </a:prstGeom>
          <a:solidFill>
            <a:srgbClr val="1E2761"/>
          </a:solidFill>
          <a:ln w="6350">
            <a:solidFill>
              <a:srgbClr val="F9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0573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MONTH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3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Adjacent launch + weight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54679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First 90-day adjacent NRx and HCP reach vs. plan. Defense holds ≥95% baseline volume. Re-allocate field calls toward new indication.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874519"/>
            <a:ext cx="3657600" cy="2194560"/>
          </a:xfrm>
          <a:prstGeom prst="rect">
            <a:avLst/>
          </a:prstGeom>
          <a:solidFill>
            <a:srgbClr val="1E2761"/>
          </a:solidFill>
          <a:ln w="6350">
            <a:solidFill>
              <a:srgbClr val="F9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0573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MONTH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7743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Biosimilar entry · re-evaluate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154679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Patient retention at 90 days post-biosimilar. If &lt;60%, escalate co-pay / bridge. If &gt;70%, scale back bridge spend.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9C84D"/>
                </a:solidFill>
                <a:latin typeface="Calibri"/>
              </a:rPr>
              <a:t>READY TO DEFEND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445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9C84D"/>
                </a:solidFill>
                <a:latin typeface="Cambria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445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6-month adjacent-launch window is tight.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9145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We compress prep timeline. Pre-launch field readiness must hit week 16 or we slip and fund Track 1 from reserves.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3892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9C84D"/>
                </a:solidFill>
                <a:latin typeface="Cambria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389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Sub-indication granularity (rheum vs. derm vs. gastro).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8581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Tilt patient-services and payer plays toward highest switching friction. Validate with by-specialty IQVIA NPA reads.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3328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9C84D"/>
                </a:solidFill>
                <a:latin typeface="Cambria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332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Payer-mandate risk if biosimilar gets exclusive.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017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If a major PBM goes biosimilar-exclusive, bridge cost runs above range. Pre-modeled: +$8–15M offset by deeper HCP cut.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CADCFC"/>
                </a:solidFill>
                <a:latin typeface="Calibri"/>
              </a:rPr>
              <a:t>Drop a note for the working artifacts: raulkulkarni@gmail.com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ADCFC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